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Buffalo Nexus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00B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ACQUISITION CRM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6B8CD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proprietary platform for mineral rights acquisition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Haynesville Shale Basin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Buffalo Bayou Resources  |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B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info, deal data, and section details live across multiple disconnected systems — Pipedrive, Excel spreadsheets, paper files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B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Ownership Intelligence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841K+ mineral owners with no way to see relationships, shared contacts, or cross-reference data sources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B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Everything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337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lookups, outreach tracking, document generation, and report building are all manual, repetitive processes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B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Visibility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can't see pipeline status, buyer activity, or acquisition progress without asking for manual updates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Buffalo Nexus is a purpose-built CRM for mineral rights acquisition — designed by buyers, for buyers.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51760" cy="12801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54864" cy="1280160"/>
          </a:xfrm>
          <a:prstGeom prst="rect">
            <a:avLst/>
          </a:prstGeom>
          <a:solidFill>
            <a:srgbClr val="00B4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Data Platform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841K+ contacts, 1,025 sections, deal pipeline — one system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737360"/>
            <a:ext cx="2651760" cy="12801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737360"/>
            <a:ext cx="54864" cy="1280160"/>
          </a:xfrm>
          <a:prstGeom prst="rect">
            <a:avLst/>
          </a:prstGeom>
          <a:solidFill>
            <a:srgbClr val="00B4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9202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Assistant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1188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in plain English, get instant answers from your data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737360"/>
            <a:ext cx="2651760" cy="12801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737360"/>
            <a:ext cx="54864" cy="1280160"/>
          </a:xfrm>
          <a:prstGeom prst="rect">
            <a:avLst/>
          </a:prstGeom>
          <a:solidFill>
            <a:srgbClr val="00B45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202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Pipeline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4652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Kanban board tracks every deal from lead to close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291840"/>
            <a:ext cx="2651760" cy="12801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291840"/>
            <a:ext cx="54864" cy="1280160"/>
          </a:xfrm>
          <a:prstGeom prst="rect">
            <a:avLst/>
          </a:prstGeom>
          <a:solidFill>
            <a:srgbClr val="00B45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747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GIS Maps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7724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Geocoded contacts, section boundaries, shapefile overlays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383280" y="3291840"/>
            <a:ext cx="2651760" cy="12801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83280" y="3291840"/>
            <a:ext cx="54864" cy="1280160"/>
          </a:xfrm>
          <a:prstGeom prst="rect">
            <a:avLst/>
          </a:prstGeom>
          <a:solidFill>
            <a:srgbClr val="00B45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47472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2336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Contact Matching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61188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related contacts by shared phones, emails, and addresses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217920" y="3291840"/>
            <a:ext cx="2651760" cy="12801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17920" y="3291840"/>
            <a:ext cx="54864" cy="1280160"/>
          </a:xfrm>
          <a:prstGeom prst="rect">
            <a:avLst/>
          </a:prstGeom>
          <a:solidFill>
            <a:srgbClr val="00B45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47472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5800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Automation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44652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offer letters, PSAs, and closing packages from templates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at Scale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164592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B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841,565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Owners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Individuals, trusts, LLCs, corporations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965960" cy="164592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B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1,025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Sections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Haynesville Basin, Louisiana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965960" cy="164592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B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99.7%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Coverage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6 phones per contact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965960" cy="164592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B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82.7%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372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Coverage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4 emails per contact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8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DATA SOURCES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73152" cy="256032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36576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contact intelligence — phones, emails, addresses, age, deceased status, financial flags, relatives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005072"/>
            <a:ext cx="73152" cy="256032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0050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Deck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400507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Operator-provided ownership data — NRA, interest types, section assignments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4352544"/>
            <a:ext cx="73152" cy="256032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43525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Enverus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435254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drilling activity — permits, rigs, completions, lease data per section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700016"/>
            <a:ext cx="73152" cy="256032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4700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idiCore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03120" y="470001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tracing — supplemental phone lookups, address history verification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Assistant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in plain English. Get instant answers from your data.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Claude (Anthropic)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0" y="2103120"/>
            <a:ext cx="5486400" cy="274320"/>
          </a:xfrm>
          <a:prstGeom prst="rect">
            <a:avLst/>
          </a:prstGeom>
          <a:solidFill>
            <a:srgbClr val="6B8CDE"/>
          </a:solidFill>
          <a:ln/>
        </p:spPr>
      </p:sp>
      <p:sp>
        <p:nvSpPr>
          <p:cNvPr id="8" name="Text 5"/>
          <p:cNvSpPr/>
          <p:nvPr/>
        </p:nvSpPr>
        <p:spPr>
          <a:xfrm>
            <a:off x="3291840" y="2103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me all individuals over 70 in DeSoto Parish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2395728"/>
            <a:ext cx="5029200" cy="256032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3957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2,847 contacts matching your criteria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2788920"/>
            <a:ext cx="5486400" cy="274320"/>
          </a:xfrm>
          <a:prstGeom prst="rect">
            <a:avLst/>
          </a:prstGeom>
          <a:solidFill>
            <a:srgbClr val="6B8CDE"/>
          </a:solidFill>
          <a:ln/>
        </p:spPr>
      </p:sp>
      <p:sp>
        <p:nvSpPr>
          <p:cNvPr id="12" name="Text 9"/>
          <p:cNvSpPr/>
          <p:nvPr/>
        </p:nvSpPr>
        <p:spPr>
          <a:xfrm>
            <a:off x="3291840" y="2788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contacts have we reached vs not contacted?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3081528"/>
            <a:ext cx="5029200" cy="256032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0815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Reached: 1,245 | Not Contacted: 840,320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0" y="3474720"/>
            <a:ext cx="5486400" cy="274320"/>
          </a:xfrm>
          <a:prstGeom prst="rect">
            <a:avLst/>
          </a:prstGeom>
          <a:solidFill>
            <a:srgbClr val="6B8CDE"/>
          </a:solidFill>
          <a:ln/>
        </p:spPr>
      </p:sp>
      <p:sp>
        <p:nvSpPr>
          <p:cNvPr id="16" name="Text 13"/>
          <p:cNvSpPr/>
          <p:nvPr/>
        </p:nvSpPr>
        <p:spPr>
          <a:xfrm>
            <a:off x="3291840" y="3474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sections have the highest BBR price?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3767328"/>
            <a:ext cx="5029200" cy="256032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7673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sections displayed with pricing history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0" y="4160520"/>
            <a:ext cx="5486400" cy="274320"/>
          </a:xfrm>
          <a:prstGeom prst="rect">
            <a:avLst/>
          </a:prstGeom>
          <a:solidFill>
            <a:srgbClr val="6B8CDE"/>
          </a:solidFill>
          <a:ln/>
        </p:spPr>
      </p:sp>
      <p:sp>
        <p:nvSpPr>
          <p:cNvPr id="20" name="Text 17"/>
          <p:cNvSpPr/>
          <p:nvPr/>
        </p:nvSpPr>
        <p:spPr>
          <a:xfrm>
            <a:off x="3291840" y="4160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updated offers to owners in 12-10N-11W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1520" y="4453128"/>
            <a:ext cx="5029200" cy="256032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4531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34 personalized offer letters for review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 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drag-and-drop Kanban board tracks every deal from initial interest through closing.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749808" cy="2011680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463040"/>
            <a:ext cx="749808" cy="54864"/>
          </a:xfrm>
          <a:prstGeom prst="rect">
            <a:avLst/>
          </a:prstGeom>
          <a:solidFill>
            <a:srgbClr val="6B8CD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55448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33272" y="1463040"/>
            <a:ext cx="749808" cy="2011680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" y="1463040"/>
            <a:ext cx="749808" cy="54864"/>
          </a:xfrm>
          <a:prstGeom prst="rect">
            <a:avLst/>
          </a:prstGeom>
          <a:solidFill>
            <a:srgbClr val="6B8CDE"/>
          </a:solidFill>
          <a:ln/>
        </p:spPr>
      </p:sp>
      <p:sp>
        <p:nvSpPr>
          <p:cNvPr id="10" name="Text 8"/>
          <p:cNvSpPr/>
          <p:nvPr/>
        </p:nvSpPr>
        <p:spPr>
          <a:xfrm>
            <a:off x="1033272" y="155448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37944" y="1463040"/>
            <a:ext cx="749808" cy="2011680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12" name="Shape 10"/>
          <p:cNvSpPr/>
          <p:nvPr/>
        </p:nvSpPr>
        <p:spPr>
          <a:xfrm>
            <a:off x="1837944" y="1463040"/>
            <a:ext cx="749808" cy="54864"/>
          </a:xfrm>
          <a:prstGeom prst="rect">
            <a:avLst/>
          </a:prstGeom>
          <a:solidFill>
            <a:srgbClr val="BD9A5F"/>
          </a:solidFill>
          <a:ln/>
        </p:spPr>
      </p:sp>
      <p:sp>
        <p:nvSpPr>
          <p:cNvPr id="13" name="Text 11"/>
          <p:cNvSpPr/>
          <p:nvPr/>
        </p:nvSpPr>
        <p:spPr>
          <a:xfrm>
            <a:off x="1837944" y="155448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42616" y="1463040"/>
            <a:ext cx="749808" cy="2011680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15" name="Shape 13"/>
          <p:cNvSpPr/>
          <p:nvPr/>
        </p:nvSpPr>
        <p:spPr>
          <a:xfrm>
            <a:off x="2642616" y="1463040"/>
            <a:ext cx="749808" cy="54864"/>
          </a:xfrm>
          <a:prstGeom prst="rect">
            <a:avLst/>
          </a:prstGeom>
          <a:solidFill>
            <a:srgbClr val="BD9A5F"/>
          </a:solidFill>
          <a:ln/>
        </p:spPr>
      </p:sp>
      <p:sp>
        <p:nvSpPr>
          <p:cNvPr id="16" name="Text 14"/>
          <p:cNvSpPr/>
          <p:nvPr/>
        </p:nvSpPr>
        <p:spPr>
          <a:xfrm>
            <a:off x="2642616" y="155448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47288" y="1463040"/>
            <a:ext cx="749808" cy="2011680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18" name="Shape 16"/>
          <p:cNvSpPr/>
          <p:nvPr/>
        </p:nvSpPr>
        <p:spPr>
          <a:xfrm>
            <a:off x="3447288" y="1463040"/>
            <a:ext cx="749808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19" name="Text 17"/>
          <p:cNvSpPr/>
          <p:nvPr/>
        </p:nvSpPr>
        <p:spPr>
          <a:xfrm>
            <a:off x="3447288" y="155448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51960" y="1463040"/>
            <a:ext cx="749808" cy="2011680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21" name="Shape 19"/>
          <p:cNvSpPr/>
          <p:nvPr/>
        </p:nvSpPr>
        <p:spPr>
          <a:xfrm>
            <a:off x="4251960" y="1463040"/>
            <a:ext cx="749808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155448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56632" y="1463040"/>
            <a:ext cx="749808" cy="2011680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24" name="Shape 22"/>
          <p:cNvSpPr/>
          <p:nvPr/>
        </p:nvSpPr>
        <p:spPr>
          <a:xfrm>
            <a:off x="5056632" y="1463040"/>
            <a:ext cx="749808" cy="54864"/>
          </a:xfrm>
          <a:prstGeom prst="rect">
            <a:avLst/>
          </a:prstGeom>
          <a:solidFill>
            <a:srgbClr val="FF671D"/>
          </a:solidFill>
          <a:ln/>
        </p:spPr>
      </p:sp>
      <p:sp>
        <p:nvSpPr>
          <p:cNvPr id="25" name="Text 23"/>
          <p:cNvSpPr/>
          <p:nvPr/>
        </p:nvSpPr>
        <p:spPr>
          <a:xfrm>
            <a:off x="5056632" y="155448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Curative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861304" y="1463040"/>
            <a:ext cx="749808" cy="2011680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27" name="Shape 25"/>
          <p:cNvSpPr/>
          <p:nvPr/>
        </p:nvSpPr>
        <p:spPr>
          <a:xfrm>
            <a:off x="5861304" y="1463040"/>
            <a:ext cx="749808" cy="54864"/>
          </a:xfrm>
          <a:prstGeom prst="rect">
            <a:avLst/>
          </a:prstGeom>
          <a:solidFill>
            <a:srgbClr val="6B8CDE"/>
          </a:solidFill>
          <a:ln/>
        </p:spPr>
      </p:sp>
      <p:sp>
        <p:nvSpPr>
          <p:cNvPr id="28" name="Text 26"/>
          <p:cNvSpPr/>
          <p:nvPr/>
        </p:nvSpPr>
        <p:spPr>
          <a:xfrm>
            <a:off x="5861304" y="155448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665976" y="1463040"/>
            <a:ext cx="749808" cy="2011680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30" name="Shape 28"/>
          <p:cNvSpPr/>
          <p:nvPr/>
        </p:nvSpPr>
        <p:spPr>
          <a:xfrm>
            <a:off x="6665976" y="1463040"/>
            <a:ext cx="749808" cy="54864"/>
          </a:xfrm>
          <a:prstGeom prst="rect">
            <a:avLst/>
          </a:prstGeom>
          <a:solidFill>
            <a:srgbClr val="BD9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665976" y="155448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Pkg Sent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70648" y="1463040"/>
            <a:ext cx="749808" cy="2011680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33" name="Shape 31"/>
          <p:cNvSpPr/>
          <p:nvPr/>
        </p:nvSpPr>
        <p:spPr>
          <a:xfrm>
            <a:off x="7470648" y="1463040"/>
            <a:ext cx="749808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34" name="Text 32"/>
          <p:cNvSpPr/>
          <p:nvPr/>
        </p:nvSpPr>
        <p:spPr>
          <a:xfrm>
            <a:off x="7470648" y="155448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Close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75320" y="1463040"/>
            <a:ext cx="749808" cy="2011680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36" name="Shape 34"/>
          <p:cNvSpPr/>
          <p:nvPr/>
        </p:nvSpPr>
        <p:spPr>
          <a:xfrm>
            <a:off x="8275320" y="1463040"/>
            <a:ext cx="749808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37" name="Text 35"/>
          <p:cNvSpPr/>
          <p:nvPr/>
        </p:nvSpPr>
        <p:spPr>
          <a:xfrm>
            <a:off x="8275320" y="155448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B8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11-STAGE PIPELINE  |  DRAG-AND-DROP  |  REAL-TIME VALUE TRACKING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4297680"/>
            <a:ext cx="54864" cy="548640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297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Stage-Level Analytics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4526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value, deal count, and conversion rates per stage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83280" y="4297680"/>
            <a:ext cx="54864" cy="548640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43" name="Text 41"/>
          <p:cNvSpPr/>
          <p:nvPr/>
        </p:nvSpPr>
        <p:spPr>
          <a:xfrm>
            <a:off x="3566160" y="4297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Deal Creation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66160" y="4526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deals directly from any contact profile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4297680"/>
            <a:ext cx="54864" cy="548640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4297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Deal Detail Pages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0" y="4526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deal history, documents, notes, and activity timeline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Contact Intelligence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10515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841K+ Searchable Contacts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Individuals, trusts, LLCs, corporations — classified and searchable with full filtering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10515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Verification System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937760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verified numbers with gold stars. Up to 6 phones per contact with type labels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331720"/>
            <a:ext cx="3931920" cy="10515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146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Associated Contact Detection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31520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finds contacts sharing phones, emails, or addresses — reveals family and business relationships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2331720"/>
            <a:ext cx="3931920" cy="10515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5146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Contact + Buyer Reservation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937760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relationships and respect contact preferences with two-tier outreach controls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3566160"/>
            <a:ext cx="3931920" cy="10515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4904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Risk Flags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73152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Bankruptcy, lien, judgment, eviction, foreclosure, and debt flags imported from AIS data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754880" y="3566160"/>
            <a:ext cx="3931920" cy="10515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4904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9496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Lookup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93776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LinkedIn and Facebook search with URL storage for found profiles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Management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land section is a comprehensive hub of data, activity, and ownership intelligence.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history chart with visual trends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0020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breakdown with NRA analysis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9224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Per-section interactive map of owner locations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2316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96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timeline for all outreach in that section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423160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65760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"Work This Section" prioritized call queue</a:t>
            </a:r>
            <a:endParaRPr lang="en-US" sz="11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42316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49224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SONRIS and eClerk one-click courthouse links</a:t>
            </a:r>
            <a:endParaRPr lang="en-US" sz="11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246120"/>
            <a:ext cx="201168" cy="20116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22960" y="3200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completeness scoring</a:t>
            </a:r>
            <a:endParaRPr lang="en-US" sz="11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246120"/>
            <a:ext cx="201168" cy="20116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657600" y="3200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plat and document attachments</a:t>
            </a:r>
            <a:endParaRPr lang="en-US" sz="11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3246120"/>
            <a:ext cx="201168" cy="201168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492240" y="3200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section pricing analysis</a:t>
            </a:r>
            <a:endParaRPr lang="en-US" sz="11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4069080"/>
            <a:ext cx="201168" cy="201168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82296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section and pricing change alerts</a:t>
            </a:r>
            <a:endParaRPr lang="en-US" sz="11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3280" y="4069080"/>
            <a:ext cx="201168" cy="201168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365760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Wells, permits, and drilling activity (Enverus)</a:t>
            </a:r>
            <a:endParaRPr lang="en-US" sz="11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7920" y="4069080"/>
            <a:ext cx="201168" cy="201168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49224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status tracking and researcher assignment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Vision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10515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1051560"/>
          </a:xfrm>
          <a:prstGeom prst="rect">
            <a:avLst/>
          </a:prstGeom>
          <a:solidFill>
            <a:srgbClr val="BD9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Portal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1645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ComboCurve integration for real-time per-owner valuations with multiple pricing scenarios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10515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54864" cy="1051560"/>
          </a:xfrm>
          <a:prstGeom prst="rect">
            <a:avLst/>
          </a:prstGeom>
          <a:solidFill>
            <a:srgbClr val="BD9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344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Research AI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83480" y="1645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document reading, runsheet generation, chain of title building, and interest calculations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331720"/>
            <a:ext cx="3931920" cy="10515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331720"/>
            <a:ext cx="54864" cy="1051560"/>
          </a:xfrm>
          <a:prstGeom prst="rect">
            <a:avLst/>
          </a:prstGeom>
          <a:solidFill>
            <a:srgbClr val="BD9A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688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Engine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7240" y="2880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Goals, streaks, leaderboards, and achievement badges that drive buyer performance and engagement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331720"/>
            <a:ext cx="3931920" cy="10515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331720"/>
            <a:ext cx="54864" cy="1051560"/>
          </a:xfrm>
          <a:prstGeom prst="rect">
            <a:avLst/>
          </a:prstGeom>
          <a:solidFill>
            <a:srgbClr val="BD9A5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4688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&amp; Scheduling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83480" y="2880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calendar with auto follow-ups, overdue alerts, and team visibility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566160"/>
            <a:ext cx="3931920" cy="10515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3566160"/>
            <a:ext cx="54864" cy="1051560"/>
          </a:xfrm>
          <a:prstGeom prst="rect">
            <a:avLst/>
          </a:prstGeom>
          <a:solidFill>
            <a:srgbClr val="BD9A5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0332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Import System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77240" y="4114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Multi-pass matching engine with fuzzy matching, duplicate detection, and conflict resolution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54880" y="3566160"/>
            <a:ext cx="3931920" cy="105156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566160"/>
            <a:ext cx="54864" cy="1051560"/>
          </a:xfrm>
          <a:prstGeom prst="rect">
            <a:avLst/>
          </a:prstGeom>
          <a:solidFill>
            <a:srgbClr val="BD9A5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70332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4068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Architecture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983480" y="4114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DigitalOcean hosting, PostgreSQL, multi-tenant design — ready to scale to any number of basins and users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Commercial Potential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9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architecture means Buffalo Nexus isn't just a tool — it's a product.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solidFill>
            <a:srgbClr val="1E265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Application Code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451"/>
                </a:solidFill>
              </a:rPr>
              <a:t>(Your Intellectual Property)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463040"/>
            <a:ext cx="3200400" cy="457200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8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Buffalo Bayou Resources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2011680"/>
            <a:ext cx="3200400" cy="457200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D9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B (Future Tenant)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560320"/>
            <a:ext cx="3200400" cy="457200"/>
          </a:xfrm>
          <a:prstGeom prst="rect">
            <a:avLst/>
          </a:prstGeom>
          <a:solidFill>
            <a:srgbClr val="1E265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D9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 (Future Tenant)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2194560"/>
            <a:ext cx="914400" cy="0"/>
          </a:xfrm>
          <a:prstGeom prst="line">
            <a:avLst/>
          </a:prstGeom>
          <a:noFill/>
          <a:ln w="25400">
            <a:solidFill>
              <a:srgbClr val="00B4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8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73152" cy="182880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mineral acquisition company in every basin faces the same problems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178808"/>
            <a:ext cx="73152" cy="182880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133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purpose-built CRM exists for mineral rights — competitors use Pipedrive or spreadsheets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471416"/>
            <a:ext cx="73152" cy="182880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4256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model: monthly subscription per user, per basin — recurring revenue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764024"/>
            <a:ext cx="73152" cy="182880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718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tenant brings their own data — the platform is the product, not the data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Buffalo Nexus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Mineral Acquisition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828800" cy="36576"/>
          </a:xfrm>
          <a:prstGeom prst="rect">
            <a:avLst/>
          </a:prstGeom>
          <a:solidFill>
            <a:srgbClr val="6B8CD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90C4"/>
                </a:solidFill>
              </a:rPr>
              <a:t>841K+ contacts  |  AI-powered  |  Cloud-native  |  Multi-tenant ready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 Pursley  |  Buffalo Bayou Resources  |  chase@capursley.com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Buffalo Nexus CRM — Platform Overview</dc:title>
  <dc:subject>PptxGenJS Presentation</dc:subject>
  <dc:creator>Chase Pursley</dc:creator>
  <cp:lastModifiedBy>Chase Pursley</cp:lastModifiedBy>
  <cp:revision>1</cp:revision>
  <dcterms:created xsi:type="dcterms:W3CDTF">2026-03-18T02:24:10Z</dcterms:created>
  <dcterms:modified xsi:type="dcterms:W3CDTF">2026-03-18T02:24:10Z</dcterms:modified>
</cp:coreProperties>
</file>